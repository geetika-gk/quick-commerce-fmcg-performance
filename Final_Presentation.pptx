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Quick-Commerce Expansion and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FMCG Financial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Descriptive Analysis of Marico, Dabur, and Hindustan Unilever · FY2020–FY2025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Geetika Kapoor  ·  Youth Economy Lab — Computation / Financial Modeling Track  ·  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annual-report data · every observation source-verified (315/315 matched)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and associative — explicitly not causal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the rapid expansion of quick commerce (Blinkit, Zepto, Swiggy Instamart) coincided with measurable changes in profitability and working-capital efficiency at major Indian FMCG companies?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FY2020–22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not yet material; COVID disruption + pantry-loading inside this window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651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5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53712" y="3749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acquired by Zomato (Jun 2022); Zepto scales; peak input-cost inflation. Held out of both averages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2651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0184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Post-period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0184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FY2024–25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30184" y="3749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≈ two-thirds of e-grocery orders by CY2024 (Bain/Flipkart); urban demand softness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DIO · DSO · DPO · CCC (average-balance) · gross/EBITDA/net margins · ROCE · ROA · revenue growth — identical definitions across all three companies; EBITDA built from PBEIT so exceptional items never leak in; net profit = owners’ share only.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Verified to Zero Mismatches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statements only, FY2019–FY2025 (FY19 = opening balances)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315 / 315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51760" y="17647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matched against scanned Consolidated statement pages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6479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366760" y="17647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formulas — zero evaluation errors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735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327355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values independently recomputed in Python, zero diffs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2735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327355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or unlabeled pages — every source page headed "Consolidated"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definition checks: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PBEIT vs reported PBT separated wherever exceptional items intervene (Marico FY20/21, Dabur FY22, HUL FY19/25); owners’ profit vs total incl. NCI; trade payables = MSME + other dues; Dabur’s FY19–21 excise duty excluded from COGS by fixed definition.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Capital: Three Different Stories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/ DSO / DPO (lines) and CCC (bars), FY2020–FY2025</a:t>
            </a:r>
            <a:endParaRPr lang="en-US" sz="1400" dirty="0"/>
          </a:p>
        </p:txBody>
      </p:sp>
      <p:pic>
        <p:nvPicPr>
          <p:cNvPr id="4" name="Image 0" descr="quick-commerce-fmcg-capstone/outputs/charts/chart1_working_capital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1106424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Marico: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 −18.8d — leaner inventory, longer payables, but DSO nearly doubled.   </a:t>
            </a:r>
            <a:r>
              <a:rPr lang="en-US" sz="135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Dabur: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 −13.8d, predominantly payables-financed — DIO/DSO near-flat, DPO → 146.5d (first negative CCC in FY25).   </a:t>
            </a:r>
            <a:r>
              <a:rPr lang="en-US" sz="135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HUL: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CCC shortened +12.7d; DSO climbed every year from FY22 on — the cleanest channel-mix fingerprint in the data.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Margins: Marico Expands, Dabur Compresses, HUL Holds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(FY20–22 avg.) → Post (FY24–25 avg.)</a:t>
            </a:r>
            <a:endParaRPr lang="en-US" sz="1400" dirty="0"/>
          </a:p>
        </p:txBody>
      </p:sp>
      <p:pic>
        <p:nvPicPr>
          <p:cNvPr id="4" name="Image 0" descr="quick-commerce-fmcg-capstone/outputs/charts/chart3_margin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11064240" cy="37910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+4.3pp gross / +1.2pp EBITDA / +1.4pp net — flattered by FY24 soft inputs, dented again by FY25 copra (+48%).   </a:t>
            </a:r>
            <a:r>
              <a:rPr lang="en-US" sz="135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Dabur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 / −1.8 / −2.3pp — net margin slid from a 17.7% FY21 peak to 14.1% by FY25 (marginal FY24 uptick to 14.9%).   </a:t>
            </a:r>
            <a:r>
              <a:rPr lang="en-US" sz="135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held: −1.1pp EBITDA off a 24.7% base, net margin flat.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Fell — With One Big Accounting Confounder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/ ROA and revenue growth</a:t>
            </a:r>
            <a:endParaRPr lang="en-US" sz="1400" dirty="0"/>
          </a:p>
        </p:txBody>
      </p:sp>
      <p:pic>
        <p:nvPicPr>
          <p:cNvPr id="4" name="Image 0" descr="quick-commerce-fmcg-capstone/outputs/charts/chart4_roce_ro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141110" cy="2880875"/>
          </a:xfrm>
          <a:prstGeom prst="rect">
            <a:avLst/>
          </a:prstGeom>
        </p:spPr>
      </p:pic>
      <p:pic>
        <p:nvPicPr>
          <p:cNvPr id="5" name="Image 1" descr="quick-commerce-fmcg-capstone/outputs/charts/chart6_revenue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463040"/>
            <a:ext cx="4297680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DF3E7"/>
          </a:solidFill>
          <a:ln w="9525">
            <a:solidFill>
              <a:srgbClr val="E8C89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681728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HUL’s reported ROCE (project-defined) −24.3pp is a structural-break artefact — flagged on the chart: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FY2021 GSK-CH merger added ₹17,316 cr goodwill + ₹27,930 cr intangibles (total assets ₹20,153 → ₹68,757 cr). Excluding the pre-merger FY20 base (open point + sensitivity band on chart), HUL ROCE is flat at 20–22% from FY22 on. Genuine deterioration sits at Dabur (ROCE −6.6pp: capital employed +45.8% vs. EBIT +8.9%; capital-employed figures are period averages of closing balances — the ROCE denominator itself uses average balances). Revenue growth decelerated at all three — steepest at HUL (10.3% → 2.1%) — against a pandemic-rebound pre-period base and FY24–25 urban softness; a geometric (CAGR) recomputation preserves every deceleration (max gap vs arithmetic: 0.3pp).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 vs Post: Divergence, Not Convergence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 excluded from both averages</a:t>
            </a:r>
            <a:endParaRPr lang="en-US" sz="1400" dirty="0"/>
          </a:p>
        </p:txBody>
      </p:sp>
      <p:pic>
        <p:nvPicPr>
          <p:cNvPr id="4" name="Image 0" descr="quick-commerce-fmcg-capstone/outputs/charts/chart5_pre_vs_p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010" y="1417320"/>
            <a:ext cx="8337499" cy="49404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FY2023 Sensitivity: Direction Never Flips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framing: FY2020–22 vs FY2023–25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713232"/>
          </a:xfrm>
          <a:prstGeom prst="rect">
            <a:avLst/>
          </a:prstGeom>
          <a:solidFill>
            <a:srgbClr val="16324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5448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shift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2103120" cy="713232"/>
          </a:xfrm>
          <a:prstGeom prst="rect">
            <a:avLst/>
          </a:prstGeom>
          <a:solidFill>
            <a:srgbClr val="16324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0128" y="155448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(FY24–25)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2286000" cy="713232"/>
          </a:xfrm>
          <a:prstGeom prst="rect">
            <a:avLst/>
          </a:prstGeom>
          <a:solidFill>
            <a:srgbClr val="16324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248" y="1554480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(FY23–25)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0" y="1554480"/>
            <a:ext cx="4023360" cy="713232"/>
          </a:xfrm>
          <a:prstGeom prst="rect">
            <a:avLst/>
          </a:prstGeom>
          <a:solidFill>
            <a:srgbClr val="16324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1554480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67712"/>
            <a:ext cx="265176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6771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 gross margin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2267712"/>
            <a:ext cx="210312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267712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+4.3pp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0" y="2267712"/>
            <a:ext cx="228600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226771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+2.6pp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89520" y="2267712"/>
            <a:ext cx="402336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9248" y="2267712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nearly halves — FY23 carries the inflation trough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980944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980944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 DSO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0" y="2980944"/>
            <a:ext cx="2103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980944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+17.0 days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0" y="2980944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29809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+14.2 days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89520" y="2980944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2980944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Moderates, still the largest DSO move in the panel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694176"/>
            <a:ext cx="265176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694176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Dabur CCC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0" y="3694176"/>
            <a:ext cx="210312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694176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−13.8 days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03520" y="3694176"/>
            <a:ext cx="228600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3694176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−9.5 days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89520" y="3694176"/>
            <a:ext cx="402336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3694176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one-third smaller — FY25 DPO stretch diluted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407408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407408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 CCC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0" y="4407408"/>
            <a:ext cx="2103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440740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+12.7 days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303520" y="4407408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13248" y="440740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+17.4 days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589520" y="4407408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4407408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— FY23 is HUL’s least-negative CCC year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5120640"/>
            <a:ext cx="265176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512064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 revenue growth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00400" y="5120640"/>
            <a:ext cx="210312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512064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−8.2pp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303520" y="5120640"/>
            <a:ext cx="228600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13248" y="5120640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−3.8pp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589520" y="5120640"/>
            <a:ext cx="4023360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9248" y="5120640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halves — FY23’s 15.5% growth joins the post-period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metric-company cells keep their sign under reclassification, and a geometric (CAGR) recomputation of revenue growth preserves every sign and ordering (largest gap vs arithmetic: 0.3pp). The conclusion is framing-robust in direction, framing-sensitive in emphasis — exactly what the transition-year design anticipated.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Companies Themselves Said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materials &amp; earnings commentary, FY2024–FY2026 — plausible, never causal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68880" y="1618488"/>
            <a:ext cx="88696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Channel-specific price-pack architecture for QC to limit cannibalisation; digital-first ARR ₹750 cr exiting FY25; Project SETU direct-reach expansion with deliberate wholesale destocking. Matches: DIO −16.7d, DSO +17d. Margin swings attributed to copra (+48% FY25), A&amp;P +18%.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Dabur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3218688"/>
            <a:ext cx="88696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salience within e-commerce rose from ~50% toward ~75%; alternative channels growing while general trade stayed under pressure; explicit GT distributor-inventory correction (Q2 FY25); urban slowdown cited repeatedly. Matches: strain visible in margins; cash cycle defended via payables (DPO 146.5d FY25).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463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4818888"/>
            <a:ext cx="88696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≈ 7–8% of sales with QC its fastest-growing slice (~1/6 of e-comm in 2024, +77% in 2023); assortment investment doubled; "structurally attractive", growing 40–50%; ₹2,706 cr Minimalist acquisition. Matches: DSO rising every year while consolidated margins barely moved.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the Channel Shift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 rupee figure on the DSO increase — Marico and HUL, FY25 revenue basis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69060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23572"/>
            <a:ext cx="489192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Marico — +17.0 extra collection days</a:t>
            </a:r>
            <a:endParaRPr lang="en-US" sz="1800" dirty="0"/>
          </a:p>
        </p:txBody>
      </p:sp>
      <p:sp>
        <p:nvSpPr>
          <p:cNvPr id="10" name="Text 3b"/>
          <p:cNvSpPr/>
          <p:nvPr/>
        </p:nvSpPr>
        <p:spPr>
          <a:xfrm>
            <a:off x="822960" y="2221412"/>
            <a:ext cx="21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₹504 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71960" y="2221412"/>
            <a:ext cx="2742680" cy="9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tied up in receivables · ~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 cr/yr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carrying cost @11%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169060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23572"/>
            <a:ext cx="489192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HUL — +5.9 extra collection days</a:t>
            </a:r>
            <a:endParaRPr lang="en-US" sz="1800" dirty="0"/>
          </a:p>
        </p:txBody>
      </p:sp>
      <p:sp>
        <p:nvSpPr>
          <p:cNvPr id="11" name="Text 6b"/>
          <p:cNvSpPr/>
          <p:nvPr/>
        </p:nvSpPr>
        <p:spPr>
          <a:xfrm>
            <a:off x="6537960" y="2221412"/>
            <a:ext cx="21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₹1,018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7000" y="2221412"/>
            <a:ext cx="2742680" cy="9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tied up in receivables · ~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₹112 cr/yr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carrying cost @11%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65000"/>
            <a:ext cx="11064240" cy="23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is calculated: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tied up = (extra DSO days ÷ 365) × FY25 revenue. Marico: (16.974 ÷ 365) × ₹10,831 cr ≈ ₹504 cr. HUL: (5.884 ÷ 365) × ₹63,121 cr ≈ ₹1,018 cr — computed on the unrounded DSO shifts; the headline day figures round to 17.0 and 5.9. Annual carrying cost applies an illustrative 11% cost of capital, typical for Indian FMCG — this is a modelling assumption, not a disclosed figure, and is meant to size the effect, not state it precisely.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DSO shift isn’t just a days-count abstraction — it converts directly into cash the company can’t deploy elsewhere. It reframes the working-capital finding as a financing cost, not only an operating ratio.</a:t>
            </a:r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shifts coincided with the quick-commerce acceleration window — but the three companies diverged.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 improved margins and compressed its cycle while its receivables lengthened; Dabur compressed its cycle through supplier financing while every margin line fell; HUL held margins while its famously negative cycle shortened.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shifts that survive the Section 2.5 confounder screen are the working-capital ones: the sustained DSO rise at HUL and Marico, and Dabur’s payables-financed compression — the fingerprints organised-channel growth would leave.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Margins, returns and growth are over-determined by input costs, the demand cycle and M&amp;A (above all HUL’s GSK-CH merger); the data cannot attribute them to any single channel.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robust to FY2023 reclassification in direction, moderated in magnitude — a mixed, company-specific outcome, which is itself the study’s expected contribution.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6086475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identifies a consistent financial signature that coincides with the rise of quick commerce, while acknowledging the limits of attribution.</a:t>
            </a:r>
            <a:endParaRPr lang="en-US" sz="1200" i="1" dirty="0"/>
          </a:p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quick commerce is not associated with faster revenue growth — it is associated with a shift in who holds the cash, and each company appears to handle that shift differently.</a:t>
            </a:r>
            <a:endParaRPr lang="en-US" sz="1200" b="1" i="1" dirty="0"/>
          </a:p>
        </p:txBody>
      </p:sp>
      <p:sp>
        <p:nvSpPr>
          <p:cNvPr id="90" name="Footer 11"/>
          <p:cNvSpPr/>
          <p:nvPr/>
        </p:nvSpPr>
        <p:spPr>
          <a:xfrm>
            <a:off x="548640" y="6660000"/>
            <a:ext cx="1106424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&amp; FMCG Financial Performance · Geetika Kapoor   |  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